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20:19:37.1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149 337 24575,'3'5'0,"0"0"0,-1 0 0,1 0 0,-1 1 0,0-1 0,0 1 0,-1-1 0,1 7 0,5 14 0,7 15 0,16 40 0,-27-74 0,0 0 0,1 0 0,-1-1 0,2 1 0,-1-1 0,1 0 0,0 0 0,9 7 0,-14-13 0,0 1 0,1-1 0,-1 0 0,1 0 0,-1 0 0,1 0 0,-1 0 0,0 0 0,1 0 0,-1 0 0,1 0 0,-1 0 0,1 0 0,-1 0 0,0 0 0,1 0 0,-1 0 0,1-1 0,-1 1 0,0 0 0,1 0 0,-1 0 0,1-1 0,-1 1 0,0 0 0,1 0 0,-1-1 0,0 1 0,1 0 0,-1-1 0,0 1 0,0 0 0,1-1 0,-1 1 0,0-1 0,0 1 0,0 0 0,0-1 0,1 1 0,-1-1 0,0 1 0,0 0 0,0-1 0,0 1 0,0-1 0,0 1 0,0-1 0,0 1 0,0 0 0,0-1 0,-1 0 0,5-32 0,-3 28 0,13-158 0,19-163 0,-32 318 0,1-1 0,-1 1 0,1 0 0,6-16 0,-8 24 0,0-1 0,0 1 0,1 0 0,-1-1 0,0 1 0,0-1 0,1 1 0,-1 0 0,0-1 0,1 1 0,-1 0 0,0-1 0,1 1 0,-1 0 0,0-1 0,1 1 0,-1 0 0,0 0 0,1 0 0,-1-1 0,1 1 0,-1 0 0,1 0 0,-1 0 0,1 0 0,-1 0 0,0 0 0,1 0 0,-1 0 0,1 0 0,-1 0 0,1 0 0,-1 0 0,1 0 0,-1 0 0,1 0 0,1 2 0,0 0 0,0 0 0,0-1 0,0 1 0,0 0 0,-1 1 0,1-1 0,-1 0 0,0 0 0,1 1 0,0 3 0,17 35 0,-2 2 0,22 83 0,5 95 0,-35-120 0,-8-83 0,10-46 0,4-27 0,-8-25 0,-3-87 0,13 337 0,2 19 0,-18-75 0,2 35 0,-2-139 0,-2-14 0,-13-20 0,-176-147 0,182 165 0,-1 1 0,0 0 0,0 0 0,0 1 0,0 0 0,-19-5 0,0 0 0,-66-36 0,54 24 0,19 10 0,16 7 0,-1 1 0,1 0 0,-1 1 0,0-1 0,0 1 0,0 0 0,-1 0 0,1 1 0,0 0 0,-10-1 0,-5 0 0,21 2 0,0 0 0,0 0 0,0 0 0,0 0 0,0 0 0,0 0 0,0 0 0,0 0 0,1 0 0,-1 0 0,0 0 0,0 0 0,0 0 0,0 0 0,0 0 0,0 0 0,0 0 0,0 0 0,0 0 0,0 0 0,1 0 0,-1 0 0,0 0 0,0 0 0,0 0 0,0 0 0,0-1 0,0 1 0,0 0 0,0 0 0,0 0 0,0 0 0,0 0 0,0 0 0,0 0 0,0 0 0,1 0 0,-1 0 0,0 0 0,0-1 0,0 1 0,0 0 0,0 0 0,0 0 0,0 0 0,0 0 0,0 0 0,0 0 0,0 0 0,0-1 0,0 1 0,0 0 0,0 0 0,0 0 0,-1 0 0,1 0 0,0 0 0,0 0 0,0 0 0,0 0 0,0-1 0,3 1 0,0 0 0,0 0 0,0 0 0,1 0 0,-1 0 0,0 1 0,0-1 0,0 1 0,0 0 0,0 0 0,5 2 0,17 11 0,0 1 0,-1 1 0,37 32 0,-33-15 0,-24-28 0,-1 0 0,1 0 0,-1 0 0,1-1 0,1 1 0,-1-1 0,1 0 0,-1-1 0,1 1 0,9 4 0,-39-42 0,-35 0 0,50 30 0,0-1 0,0-1 0,0 0 0,1 0 0,0-1 0,-14-13 0,19 16 0,1-1 0,-1 0 0,-1 1 0,1 0 0,-1 0 0,1 0 0,-1 1 0,0-1 0,0 1 0,-1 0 0,1 1 0,-1-1 0,1 1 0,-1 0 0,0 1 0,0-1 0,-11 0 0,16 2-68,0 0 0,0 0-1,1 0 1,-1-1 0,0 1 0,0 0-1,0 0 1,0 0 0,0-1 0,1 1-1,-1 0 1,0-1 0,0 1 0,0-1-1,1 1 1,-1-1 0,0 1 0,1-1-1,-2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C254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463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3619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4650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5681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712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8775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9806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837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1868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3931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4962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5993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7024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9087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90118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1149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2180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3212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243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5274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6305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7336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9399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00430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21461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2492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63524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4555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5586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6617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7648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8680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9711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10742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31773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52804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73836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94867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15898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36929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7960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78992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00023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21054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42085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63116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84148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pic>
        <p:nvPicPr>
          <p:cNvPr id="59" name="Image 0" descr="/home/claude/dabbawala/assets/train_track_ban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7178040" y="777240"/>
            <a:ext cx="4572000" cy="1554480"/>
          </a:xfrm>
          <a:prstGeom prst="rect">
            <a:avLst/>
          </a:prstGeom>
        </p:spPr>
      </p:pic>
      <p:sp>
        <p:nvSpPr>
          <p:cNvPr id="60" name="Shape 57"/>
          <p:cNvSpPr/>
          <p:nvPr/>
        </p:nvSpPr>
        <p:spPr>
          <a:xfrm>
            <a:off x="7923276" y="2253996"/>
            <a:ext cx="3081528" cy="3081528"/>
          </a:xfrm>
          <a:prstGeom prst="ellipse">
            <a:avLst/>
          </a:prstGeom>
          <a:solidFill>
            <a:srgbClr val="FFFFFF"/>
          </a:solidFill>
          <a:ln w="100584">
            <a:solidFill>
              <a:srgbClr val="FFC42D"/>
            </a:solidFill>
            <a:prstDash val="solid"/>
          </a:ln>
        </p:spPr>
      </p:sp>
      <p:pic>
        <p:nvPicPr>
          <p:cNvPr id="61" name="Image 1" descr="/home/claude/dabbawala/assets/uploads/dabbawala_b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860" y="2354580"/>
            <a:ext cx="2880360" cy="2880360"/>
          </a:xfrm>
          <a:prstGeom prst="ellipse">
            <a:avLst/>
          </a:prstGeom>
        </p:spPr>
      </p:pic>
      <p:sp>
        <p:nvSpPr>
          <p:cNvPr id="62" name="Shape 58"/>
          <p:cNvSpPr/>
          <p:nvPr/>
        </p:nvSpPr>
        <p:spPr>
          <a:xfrm>
            <a:off x="640080" y="685800"/>
            <a:ext cx="457200" cy="457200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63" name="Shape 59"/>
          <p:cNvSpPr/>
          <p:nvPr/>
        </p:nvSpPr>
        <p:spPr>
          <a:xfrm>
            <a:off x="960120" y="96012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4" name="Text 60"/>
          <p:cNvSpPr/>
          <p:nvPr/>
        </p:nvSpPr>
        <p:spPr>
          <a:xfrm>
            <a:off x="640080" y="196596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DABBAWALA DELIVERY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PREDICTION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200" dirty="0"/>
          </a:p>
        </p:txBody>
      </p:sp>
      <p:sp>
        <p:nvSpPr>
          <p:cNvPr id="65" name="Text 61"/>
          <p:cNvSpPr/>
          <p:nvPr/>
        </p:nvSpPr>
        <p:spPr>
          <a:xfrm>
            <a:off x="658368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 Delivery Time Prediction</a:t>
            </a:r>
            <a:endParaRPr lang="en-US" sz="1800" dirty="0"/>
          </a:p>
        </p:txBody>
      </p:sp>
      <p:sp>
        <p:nvSpPr>
          <p:cNvPr id="66" name="Shape 62"/>
          <p:cNvSpPr/>
          <p:nvPr/>
        </p:nvSpPr>
        <p:spPr>
          <a:xfrm>
            <a:off x="658368" y="4892040"/>
            <a:ext cx="3108960" cy="18288"/>
          </a:xfrm>
          <a:prstGeom prst="rect">
            <a:avLst/>
          </a:prstGeom>
          <a:solidFill>
            <a:srgbClr val="3E5A82"/>
          </a:solidFill>
          <a:ln/>
        </p:spPr>
      </p:sp>
      <p:sp>
        <p:nvSpPr>
          <p:cNvPr id="67" name="Text 63"/>
          <p:cNvSpPr/>
          <p:nvPr/>
        </p:nvSpPr>
        <p:spPr>
          <a:xfrm>
            <a:off x="658368" y="5074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R. Pote</a:t>
            </a:r>
            <a:endParaRPr lang="en-US" sz="1400" dirty="0"/>
          </a:p>
        </p:txBody>
      </p:sp>
      <p:sp>
        <p:nvSpPr>
          <p:cNvPr id="68" name="Text 64"/>
          <p:cNvSpPr/>
          <p:nvPr/>
        </p:nvSpPr>
        <p:spPr>
          <a:xfrm>
            <a:off x="658368" y="5394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PGA 32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FFF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3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35608"/>
            <a:ext cx="128016" cy="128016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36776"/>
            <a:ext cx="128016" cy="128016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Dabbawalas deliver thousands of lunch boxes every day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timing is extremely important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delays affect customer satisfaction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delivery time helps improve operational planning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estimate delivery time using historical data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intelligent prediction system for delivery duration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1600200"/>
            <a:ext cx="2560320" cy="2560320"/>
          </a:xfrm>
          <a:prstGeom prst="ellipse">
            <a:avLst/>
          </a:prstGeom>
          <a:solidFill>
            <a:srgbClr val="FFFFFF"/>
          </a:solidFill>
          <a:ln w="91440">
            <a:solidFill>
              <a:srgbClr val="C8102E"/>
            </a:solidFill>
            <a:prstDash val="solid"/>
          </a:ln>
        </p:spPr>
      </p:sp>
      <p:pic>
        <p:nvPicPr>
          <p:cNvPr id="9" name="Image 0" descr="/home/claude/dabbawala/assets/uploads/dabbawala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91640"/>
            <a:ext cx="2377440" cy="2377440"/>
          </a:xfrm>
          <a:prstGeom prst="ellipse">
            <a:avLst/>
          </a:prstGeom>
        </p:spPr>
      </p:pic>
      <p:pic>
        <p:nvPicPr>
          <p:cNvPr id="10" name="Image 1" descr="/home/claude/dabbawala/assets/customer_form_p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063240"/>
            <a:ext cx="1691640" cy="2377440"/>
          </a:xfrm>
          <a:prstGeom prst="rect">
            <a:avLst/>
          </a:prstGeom>
        </p:spPr>
      </p:pic>
      <p:pic>
        <p:nvPicPr>
          <p:cNvPr id="11" name="Image 2" descr="/home/claude/dabbawala/assets/tiffin_si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4160520"/>
            <a:ext cx="960120" cy="1316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Dabbawala handing over a lunchbox — trust delivered daily.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E3861A-2C87-D4B8-AD04-A678AE1FD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2991633"/>
            <a:ext cx="1234440" cy="247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3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35608"/>
            <a:ext cx="128016" cy="128016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36776"/>
            <a:ext cx="128016" cy="128016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prediction is widely used across logistics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like Swiggy, Zomato and Amazon use predictive analytics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studies applied Regression and Machine Learning techniques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traffic, delivery route and workload affect delivery time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adapts similar concepts for the Mumbai Dabbawala network</a:t>
            </a:r>
            <a:endParaRPr lang="en-US" sz="1600" dirty="0"/>
          </a:p>
        </p:txBody>
      </p:sp>
      <p:pic>
        <p:nvPicPr>
          <p:cNvPr id="7" name="Image 0" descr="/home/claude/dabbawala/assets/lit_review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508760"/>
            <a:ext cx="4709160" cy="3364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4983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Route · Tiffin · Machine Learning Brain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498E6-A23A-FA08-7C89-D278FB450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690" y="1298448"/>
            <a:ext cx="2250190" cy="229043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Part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model-ready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46504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46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6916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487168" y="21122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295144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50008"/>
            <a:ext cx="329184" cy="329184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50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" y="229514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87168" y="27157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2898648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953512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53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289864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487168" y="33192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3502152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557016"/>
            <a:ext cx="329184" cy="329184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350215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487168" y="392277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4105656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160520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160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410565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487168" y="45262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" y="470916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764024"/>
            <a:ext cx="329184" cy="329184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64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1288" y="47091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2487168" y="51297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5312664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1B4275"/>
          </a:solidFill>
          <a:ln w="12700">
            <a:solidFill>
              <a:srgbClr val="FFC4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367528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367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1288" y="531266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7397496" y="1591056"/>
            <a:ext cx="3218688" cy="3218688"/>
          </a:xfrm>
          <a:prstGeom prst="ellipse">
            <a:avLst/>
          </a:prstGeom>
          <a:solidFill>
            <a:srgbClr val="FFFFFF"/>
          </a:solidFill>
          <a:ln w="100584">
            <a:solidFill>
              <a:srgbClr val="FFC42D"/>
            </a:solidFill>
            <a:prstDash val="solid"/>
          </a:ln>
        </p:spPr>
      </p:sp>
      <p:pic>
        <p:nvPicPr>
          <p:cNvPr id="39" name="Image 0" descr="/home/claude/dabbawala/assets/uploads/dabbawala_b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691640"/>
            <a:ext cx="3017520" cy="3017520"/>
          </a:xfrm>
          <a:prstGeom prst="ellipse">
            <a:avLst/>
          </a:prstGeom>
        </p:spPr>
      </p:pic>
      <p:pic>
        <p:nvPicPr>
          <p:cNvPr id="40" name="Image 1" descr="/home/claude/dabbawala/assets/tiffin_t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846320"/>
            <a:ext cx="2743200" cy="1426464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27432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8463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69494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90525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111556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132588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153619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174650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195681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216712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237744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258775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279806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300837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321868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342900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363931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384962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405993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427024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448056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2" name="Shape 58"/>
          <p:cNvSpPr/>
          <p:nvPr/>
        </p:nvSpPr>
        <p:spPr>
          <a:xfrm>
            <a:off x="469087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490118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511149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532180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6" name="Shape 62"/>
          <p:cNvSpPr/>
          <p:nvPr/>
        </p:nvSpPr>
        <p:spPr>
          <a:xfrm>
            <a:off x="553212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7" name="Shape 63"/>
          <p:cNvSpPr/>
          <p:nvPr/>
        </p:nvSpPr>
        <p:spPr>
          <a:xfrm>
            <a:off x="574243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8" name="Shape 64"/>
          <p:cNvSpPr/>
          <p:nvPr/>
        </p:nvSpPr>
        <p:spPr>
          <a:xfrm>
            <a:off x="595274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9" name="Shape 65"/>
          <p:cNvSpPr/>
          <p:nvPr/>
        </p:nvSpPr>
        <p:spPr>
          <a:xfrm>
            <a:off x="616305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0" name="Shape 66"/>
          <p:cNvSpPr/>
          <p:nvPr/>
        </p:nvSpPr>
        <p:spPr>
          <a:xfrm>
            <a:off x="637336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1" name="Shape 67"/>
          <p:cNvSpPr/>
          <p:nvPr/>
        </p:nvSpPr>
        <p:spPr>
          <a:xfrm>
            <a:off x="658368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2" name="Shape 68"/>
          <p:cNvSpPr/>
          <p:nvPr/>
        </p:nvSpPr>
        <p:spPr>
          <a:xfrm>
            <a:off x="679399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3" name="Shape 69"/>
          <p:cNvSpPr/>
          <p:nvPr/>
        </p:nvSpPr>
        <p:spPr>
          <a:xfrm>
            <a:off x="700430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4" name="Shape 70"/>
          <p:cNvSpPr/>
          <p:nvPr/>
        </p:nvSpPr>
        <p:spPr>
          <a:xfrm>
            <a:off x="721461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5" name="Shape 71"/>
          <p:cNvSpPr/>
          <p:nvPr/>
        </p:nvSpPr>
        <p:spPr>
          <a:xfrm>
            <a:off x="742492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6" name="Shape 72"/>
          <p:cNvSpPr/>
          <p:nvPr/>
        </p:nvSpPr>
        <p:spPr>
          <a:xfrm>
            <a:off x="763524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7" name="Shape 73"/>
          <p:cNvSpPr/>
          <p:nvPr/>
        </p:nvSpPr>
        <p:spPr>
          <a:xfrm>
            <a:off x="784555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8" name="Shape 74"/>
          <p:cNvSpPr/>
          <p:nvPr/>
        </p:nvSpPr>
        <p:spPr>
          <a:xfrm>
            <a:off x="805586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79" name="Shape 75"/>
          <p:cNvSpPr/>
          <p:nvPr/>
        </p:nvSpPr>
        <p:spPr>
          <a:xfrm>
            <a:off x="826617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0" name="Shape 76"/>
          <p:cNvSpPr/>
          <p:nvPr/>
        </p:nvSpPr>
        <p:spPr>
          <a:xfrm>
            <a:off x="847648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1" name="Shape 77"/>
          <p:cNvSpPr/>
          <p:nvPr/>
        </p:nvSpPr>
        <p:spPr>
          <a:xfrm>
            <a:off x="868680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2" name="Shape 78"/>
          <p:cNvSpPr/>
          <p:nvPr/>
        </p:nvSpPr>
        <p:spPr>
          <a:xfrm>
            <a:off x="889711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3" name="Shape 79"/>
          <p:cNvSpPr/>
          <p:nvPr/>
        </p:nvSpPr>
        <p:spPr>
          <a:xfrm>
            <a:off x="910742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4" name="Shape 80"/>
          <p:cNvSpPr/>
          <p:nvPr/>
        </p:nvSpPr>
        <p:spPr>
          <a:xfrm>
            <a:off x="931773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5" name="Shape 81"/>
          <p:cNvSpPr/>
          <p:nvPr/>
        </p:nvSpPr>
        <p:spPr>
          <a:xfrm>
            <a:off x="952804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6" name="Shape 82"/>
          <p:cNvSpPr/>
          <p:nvPr/>
        </p:nvSpPr>
        <p:spPr>
          <a:xfrm>
            <a:off x="973836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7" name="Shape 83"/>
          <p:cNvSpPr/>
          <p:nvPr/>
        </p:nvSpPr>
        <p:spPr>
          <a:xfrm>
            <a:off x="994867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8" name="Shape 84"/>
          <p:cNvSpPr/>
          <p:nvPr/>
        </p:nvSpPr>
        <p:spPr>
          <a:xfrm>
            <a:off x="1015898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89" name="Shape 85"/>
          <p:cNvSpPr/>
          <p:nvPr/>
        </p:nvSpPr>
        <p:spPr>
          <a:xfrm>
            <a:off x="1036929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0" name="Shape 86"/>
          <p:cNvSpPr/>
          <p:nvPr/>
        </p:nvSpPr>
        <p:spPr>
          <a:xfrm>
            <a:off x="1057960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1" name="Shape 87"/>
          <p:cNvSpPr/>
          <p:nvPr/>
        </p:nvSpPr>
        <p:spPr>
          <a:xfrm>
            <a:off x="1078992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2" name="Shape 88"/>
          <p:cNvSpPr/>
          <p:nvPr/>
        </p:nvSpPr>
        <p:spPr>
          <a:xfrm>
            <a:off x="11000232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3" name="Shape 89"/>
          <p:cNvSpPr/>
          <p:nvPr/>
        </p:nvSpPr>
        <p:spPr>
          <a:xfrm>
            <a:off x="11210544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4" name="Shape 90"/>
          <p:cNvSpPr/>
          <p:nvPr/>
        </p:nvSpPr>
        <p:spPr>
          <a:xfrm>
            <a:off x="11420856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5" name="Shape 91"/>
          <p:cNvSpPr/>
          <p:nvPr/>
        </p:nvSpPr>
        <p:spPr>
          <a:xfrm>
            <a:off x="11631168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6" name="Shape 92"/>
          <p:cNvSpPr/>
          <p:nvPr/>
        </p:nvSpPr>
        <p:spPr>
          <a:xfrm>
            <a:off x="11841480" y="653796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97" name="Text 9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Part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trained model to a live web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755648" cy="1005840"/>
          </a:xfrm>
          <a:prstGeom prst="roundRect">
            <a:avLst>
              <a:gd name="adj" fmla="val 8182"/>
            </a:avLst>
          </a:prstGeom>
          <a:solidFill>
            <a:srgbClr val="FFF6E5"/>
          </a:solidFill>
          <a:ln w="19050">
            <a:solidFill>
              <a:srgbClr val="C8102E"/>
            </a:solidFill>
            <a:prstDash val="solid"/>
          </a:ln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189280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892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14016" y="214884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1755648" cy="1005840"/>
          </a:xfrm>
          <a:prstGeom prst="roundRect">
            <a:avLst>
              <a:gd name="adj" fmla="val 8182"/>
            </a:avLst>
          </a:prstGeom>
          <a:solidFill>
            <a:srgbClr val="FFF6E5"/>
          </a:solidFill>
          <a:ln w="19050">
            <a:solidFill>
              <a:srgbClr val="C8102E"/>
            </a:solidFill>
            <a:prstDash val="solid"/>
          </a:ln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92808"/>
            <a:ext cx="292608" cy="29260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892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33472" y="22402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15968" y="214884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62272" y="1783080"/>
            <a:ext cx="1755648" cy="1005840"/>
          </a:xfrm>
          <a:prstGeom prst="roundRect">
            <a:avLst>
              <a:gd name="adj" fmla="val 8182"/>
            </a:avLst>
          </a:prstGeom>
          <a:solidFill>
            <a:srgbClr val="FFF6E5"/>
          </a:solidFill>
          <a:ln w="19050">
            <a:solidFill>
              <a:srgbClr val="C8102E"/>
            </a:solidFill>
            <a:prstDash val="solid"/>
          </a:ln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93792" y="189280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5193792" y="1892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35424" y="224028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3017520"/>
            <a:ext cx="1755648" cy="1005840"/>
          </a:xfrm>
          <a:prstGeom prst="roundRect">
            <a:avLst>
              <a:gd name="adj" fmla="val 8182"/>
            </a:avLst>
          </a:prstGeom>
          <a:solidFill>
            <a:srgbClr val="FFF6E5"/>
          </a:solidFill>
          <a:ln w="19050">
            <a:solidFill>
              <a:srgbClr val="1E4E8C"/>
            </a:solidFill>
            <a:prstDash val="solid"/>
          </a:ln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89888" y="3127248"/>
            <a:ext cx="292608" cy="29260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888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414016" y="33832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0" y="3017520"/>
            <a:ext cx="1755648" cy="1005840"/>
          </a:xfrm>
          <a:prstGeom prst="roundRect">
            <a:avLst>
              <a:gd name="adj" fmla="val 8182"/>
            </a:avLst>
          </a:prstGeom>
          <a:solidFill>
            <a:srgbClr val="FFF6E5"/>
          </a:solidFill>
          <a:ln w="19050">
            <a:solidFill>
              <a:srgbClr val="1E4E8C"/>
            </a:solidFill>
            <a:prstDash val="solid"/>
          </a:ln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12724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33472" y="34747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Deployment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15968" y="33832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62272" y="3017520"/>
            <a:ext cx="1755648" cy="1005840"/>
          </a:xfrm>
          <a:prstGeom prst="roundRect">
            <a:avLst>
              <a:gd name="adj" fmla="val 8182"/>
            </a:avLst>
          </a:prstGeom>
          <a:solidFill>
            <a:srgbClr val="FFF6E5"/>
          </a:solidFill>
          <a:ln w="19050">
            <a:solidFill>
              <a:srgbClr val="1E4E8C"/>
            </a:solidFill>
            <a:prstDash val="solid"/>
          </a:ln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3127248"/>
            <a:ext cx="292608" cy="29260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30" name="Text 28"/>
          <p:cNvSpPr/>
          <p:nvPr/>
        </p:nvSpPr>
        <p:spPr>
          <a:xfrm>
            <a:off x="5193792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35424" y="34747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443484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divided into training and testing sets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scaled before prediction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evaluated using regression metrics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used for deployment with an interactive interface</a:t>
            </a:r>
            <a:endParaRPr lang="en-US" sz="1350" dirty="0"/>
          </a:p>
        </p:txBody>
      </p:sp>
      <p:pic>
        <p:nvPicPr>
          <p:cNvPr id="33" name="Image 0" descr="/home/claude/dabbawala/assets/laptop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389120"/>
            <a:ext cx="4023360" cy="264261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3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asks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09928"/>
            <a:ext cx="201168" cy="2011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938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1600200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709928"/>
            <a:ext cx="201168" cy="201168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9" name="Text 7"/>
          <p:cNvSpPr/>
          <p:nvPr/>
        </p:nvSpPr>
        <p:spPr>
          <a:xfrm>
            <a:off x="2542032" y="192938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Area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42816" y="1600200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2544" y="1709928"/>
            <a:ext cx="201168" cy="20116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2" name="Text 10"/>
          <p:cNvSpPr/>
          <p:nvPr/>
        </p:nvSpPr>
        <p:spPr>
          <a:xfrm>
            <a:off x="4334256" y="192938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523744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" y="2633472"/>
            <a:ext cx="201168" cy="2011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5292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2523744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2633472"/>
            <a:ext cx="201168" cy="201168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18" name="Text 16"/>
          <p:cNvSpPr/>
          <p:nvPr/>
        </p:nvSpPr>
        <p:spPr>
          <a:xfrm>
            <a:off x="2542032" y="285292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Weight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42816" y="2523744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52544" y="2633472"/>
            <a:ext cx="201168" cy="20116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21" name="Text 19"/>
          <p:cNvSpPr/>
          <p:nvPr/>
        </p:nvSpPr>
        <p:spPr>
          <a:xfrm>
            <a:off x="4334256" y="285292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3447288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3557016"/>
            <a:ext cx="201168" cy="2011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77647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50592" y="3447288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0" y="3557016"/>
            <a:ext cx="201168" cy="201168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27" name="Text 25"/>
          <p:cNvSpPr/>
          <p:nvPr/>
        </p:nvSpPr>
        <p:spPr>
          <a:xfrm>
            <a:off x="2542032" y="377647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42816" y="3447288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2544" y="3557016"/>
            <a:ext cx="201168" cy="20116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30" name="Text 28"/>
          <p:cNvSpPr/>
          <p:nvPr/>
        </p:nvSpPr>
        <p:spPr>
          <a:xfrm>
            <a:off x="4334256" y="377647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8096" y="4480560"/>
            <a:ext cx="201168" cy="2011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70001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450592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4480560"/>
            <a:ext cx="201168" cy="201168"/>
          </a:xfrm>
          <a:prstGeom prst="ellipse">
            <a:avLst/>
          </a:prstGeom>
          <a:solidFill>
            <a:srgbClr val="FFC42D"/>
          </a:solidFill>
          <a:ln/>
        </p:spPr>
      </p:sp>
      <p:sp>
        <p:nvSpPr>
          <p:cNvPr id="36" name="Text 34"/>
          <p:cNvSpPr/>
          <p:nvPr/>
        </p:nvSpPr>
        <p:spPr>
          <a:xfrm>
            <a:off x="2542032" y="470001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Dabbawala ID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42816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  <a:effectLst>
            <a:outerShdw blurRad="508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52544" y="4480560"/>
            <a:ext cx="201168" cy="201168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39" name="Text 37"/>
          <p:cNvSpPr/>
          <p:nvPr/>
        </p:nvSpPr>
        <p:spPr>
          <a:xfrm>
            <a:off x="4334256" y="470001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pic>
        <p:nvPicPr>
          <p:cNvPr id="40" name="Image 0" descr="/home/claude/dabbawala/assets/user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00200"/>
            <a:ext cx="4434840" cy="316382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BA2C8B4-C84D-DFDA-F4E7-DF9174080B79}"/>
                  </a:ext>
                </a:extLst>
              </p14:cNvPr>
              <p14:cNvContentPartPr/>
              <p14:nvPr/>
            </p14:nvContentPartPr>
            <p14:xfrm>
              <a:off x="8161838" y="3041025"/>
              <a:ext cx="211680" cy="3175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BA2C8B4-C84D-DFDA-F4E7-DF9174080B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8838" y="2978385"/>
                <a:ext cx="337320" cy="44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4937760" cy="1920240"/>
          </a:xfrm>
          <a:prstGeom prst="roundRect">
            <a:avLst>
              <a:gd name="adj" fmla="val 6667"/>
            </a:avLst>
          </a:prstGeom>
          <a:solidFill>
            <a:srgbClr val="0F2A4D"/>
          </a:solidFill>
          <a:ln w="19050">
            <a:solidFill>
              <a:srgbClr val="FFC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DELIVERY 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C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</a:t>
            </a: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13232" y="38404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generated instantly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trained ML model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estimate expected delivery duration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output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11896" y="1271016"/>
            <a:ext cx="2670048" cy="2670048"/>
          </a:xfrm>
          <a:prstGeom prst="ellipse">
            <a:avLst/>
          </a:prstGeom>
          <a:solidFill>
            <a:srgbClr val="FFFFFF"/>
          </a:solidFill>
          <a:ln w="100584">
            <a:solidFill>
              <a:srgbClr val="FFC42D"/>
            </a:solidFill>
            <a:prstDash val="solid"/>
          </a:ln>
        </p:spPr>
      </p:sp>
      <p:pic>
        <p:nvPicPr>
          <p:cNvPr id="8" name="Image 0" descr="/home/claude/dabbawala/assets/uploads/dabbawala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2468880" cy="2468880"/>
          </a:xfrm>
          <a:prstGeom prst="ellipse">
            <a:avLst/>
          </a:prstGeom>
        </p:spPr>
      </p:pic>
      <p:pic>
        <p:nvPicPr>
          <p:cNvPr id="9" name="Image 1" descr="/home/claude/dabbawala/assets/customer_receiv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834640"/>
            <a:ext cx="1874520" cy="1965960"/>
          </a:xfrm>
          <a:prstGeom prst="rect">
            <a:avLst/>
          </a:prstGeom>
        </p:spPr>
      </p:pic>
      <p:pic>
        <p:nvPicPr>
          <p:cNvPr id="10" name="Image 2" descr="/home/claude/dabbawala/assets/tiffin_si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977640"/>
            <a:ext cx="1051560" cy="1444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DA3306-C749-096A-F204-491E38620B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75" y="3429000"/>
            <a:ext cx="1796666" cy="18735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trained model to a live application on the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5216" y="1837944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trained ML model with the Flask backend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saved model.pkl file for real-time predictions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907792"/>
            <a:ext cx="146304" cy="146304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16" y="3209544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user-friendly HTML forms for entering delivery details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Flask templates for smooth interaction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predicted delivery time instantly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E8A8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725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E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5216" y="5001768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the Flask application on an AWS EC2 Linux instance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the server to run the application continuously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remote access through the EC2 public IP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463040"/>
            <a:ext cx="5623560" cy="1783080"/>
          </a:xfrm>
          <a:prstGeom prst="roundRect">
            <a:avLst>
              <a:gd name="adj" fmla="val 4103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4" name="Image 0" descr="/home/claude/dabbawala/assets/uploads/screenshot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48" y="1572768"/>
            <a:ext cx="5404104" cy="1563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89320" y="331012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3703320"/>
            <a:ext cx="2720340" cy="2651760"/>
          </a:xfrm>
          <a:prstGeom prst="roundRect">
            <a:avLst>
              <a:gd name="adj" fmla="val 2759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7" name="Image 1" descr="/home/claude/dabbawala/assets/uploads/screenshot_fo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0760" y="3813048"/>
            <a:ext cx="2537460" cy="24323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89320" y="6400800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892540" y="3703320"/>
            <a:ext cx="2720340" cy="2651760"/>
          </a:xfrm>
          <a:prstGeom prst="roundRect">
            <a:avLst>
              <a:gd name="adj" fmla="val 2759"/>
            </a:avLst>
          </a:prstGeom>
          <a:solidFill>
            <a:srgbClr val="FFF6E5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20" name="Image 2" descr="/home/claude/dabbawala/assets/uploads/screenshot_resul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3980" y="3813048"/>
            <a:ext cx="2537460" cy="24323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92540" y="6400800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8BE609C-7269-D399-10BA-3E411B10C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615883"/>
            <a:ext cx="5921639" cy="26876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417320"/>
            <a:ext cx="5029200" cy="3429000"/>
          </a:xfrm>
          <a:prstGeom prst="roundRect">
            <a:avLst>
              <a:gd name="adj" fmla="val 2667"/>
            </a:avLst>
          </a:prstGeom>
          <a:solidFill>
            <a:srgbClr val="FFF6E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machine learning-based Dabbawala delivery time prediction system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EDA, preprocessing, feature engineering, encoding, and scaling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Linear Regression, Random Forest, Tuned Random Forest, and XGBoost models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the best-performing model using Flask on AWS EC2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70448" y="1417320"/>
            <a:ext cx="5029200" cy="3429000"/>
          </a:xfrm>
          <a:prstGeom prst="roundRect">
            <a:avLst>
              <a:gd name="adj" fmla="val 2667"/>
            </a:avLst>
          </a:prstGeom>
          <a:solidFill>
            <a:srgbClr val="12345F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20574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Delivery timings during train cancellations to improve delivery planning accuracy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train delays for more reliable delivery predictions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 application for easier user accessibility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dashboard for delivery tracking and monitoring</a:t>
            </a:r>
            <a:endParaRPr lang="en-US" sz="1300" dirty="0"/>
          </a:p>
        </p:txBody>
      </p:sp>
      <p:pic>
        <p:nvPicPr>
          <p:cNvPr id="9" name="Image 0" descr="/home/claude/dabbawala/assets/skyline_band_nofig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66360"/>
            <a:ext cx="7406640" cy="16824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979408" y="5157216"/>
            <a:ext cx="1700784" cy="1700784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FC42D"/>
            </a:solidFill>
            <a:prstDash val="solid"/>
          </a:ln>
        </p:spPr>
      </p:sp>
      <p:pic>
        <p:nvPicPr>
          <p:cNvPr id="11" name="Image 1" descr="/home/claude/dabbawala/assets/uploads/dabbawala_b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5230368"/>
            <a:ext cx="1554480" cy="155448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bbawala/assets/skyline_band_nofigure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6949440" y="3566160"/>
            <a:ext cx="5120640" cy="1161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74152" y="713232"/>
            <a:ext cx="3236976" cy="3236976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FFC42D"/>
            </a:solidFill>
            <a:prstDash val="solid"/>
          </a:ln>
        </p:spPr>
      </p:sp>
      <p:pic>
        <p:nvPicPr>
          <p:cNvPr id="4" name="Image 1" descr="/home/claude/dabbawala/assets/uploads/dabbawala_portra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822960"/>
            <a:ext cx="3017520" cy="3017520"/>
          </a:xfrm>
          <a:prstGeom prst="ellipse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148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2"/>
          <p:cNvSpPr/>
          <p:nvPr/>
        </p:nvSpPr>
        <p:spPr>
          <a:xfrm>
            <a:off x="713232" y="3108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C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713232" y="3977640"/>
            <a:ext cx="2926080" cy="18288"/>
          </a:xfrm>
          <a:prstGeom prst="rect">
            <a:avLst/>
          </a:prstGeom>
          <a:solidFill>
            <a:srgbClr val="3E5A82"/>
          </a:solidFill>
          <a:ln/>
        </p:spPr>
      </p:sp>
      <p:sp>
        <p:nvSpPr>
          <p:cNvPr id="8" name="Text 4"/>
          <p:cNvSpPr/>
          <p:nvPr/>
        </p:nvSpPr>
        <p:spPr>
          <a:xfrm>
            <a:off x="713232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Dabbawala Delivery Time Prediction System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13232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R. Pote  ·  Batch PGA 32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432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8463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9494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90525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1556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32588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153619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174650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195681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216712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237744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258775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279806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300837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321868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342900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363931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384962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405993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427024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448056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469087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490118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511149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532180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553212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574243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595274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616305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637336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658368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679399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700430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721461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742492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763524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784555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805586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826617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847648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868680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889711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910742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931773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952804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973836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994867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1015898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1036929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1057960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1078992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11000232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2" name="Shape 58"/>
          <p:cNvSpPr/>
          <p:nvPr/>
        </p:nvSpPr>
        <p:spPr>
          <a:xfrm>
            <a:off x="11210544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11420856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11631168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11841480" y="6583680"/>
            <a:ext cx="82296" cy="146304"/>
          </a:xfrm>
          <a:prstGeom prst="rect">
            <a:avLst/>
          </a:prstGeom>
          <a:solidFill>
            <a:srgbClr val="FFC42D">
              <a:alpha val="2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484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Dabbawala Delivery Time Prediction System</dc:title>
  <dc:subject>PptxGenJS Presentation</dc:subject>
  <dc:creator>Shubham R. Pote</dc:creator>
  <cp:lastModifiedBy>shubham pote</cp:lastModifiedBy>
  <cp:revision>2</cp:revision>
  <dcterms:created xsi:type="dcterms:W3CDTF">2026-07-15T20:10:22Z</dcterms:created>
  <dcterms:modified xsi:type="dcterms:W3CDTF">2026-07-15T20:40:21Z</dcterms:modified>
</cp:coreProperties>
</file>